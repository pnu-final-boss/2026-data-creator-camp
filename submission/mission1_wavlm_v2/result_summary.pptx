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신고자 음성으로 성별 분류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1/6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4B5764"/>
                </a:solidFill>
                <a:latin typeface="Noto Sans CJK KR"/>
              </a:defRPr>
            </a:pPr>
            <a:r>
              <a:t>WavLM v2 · 서울/구급 119 신고 통화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74720" cy="199339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공식 Validation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883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98.736%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290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3,640건 중 3,594건 정분류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474720" cy="199339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585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내부 Dev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6883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98.836%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4290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Training에서 분리한 5,840건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03120"/>
            <a:ext cx="3474720" cy="199339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585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최고 가중치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6883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Epoch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4290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best.pt · 판단 임계값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18888"/>
            <a:ext cx="106984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3233A"/>
                </a:solidFill>
                <a:latin typeface="Noto Sans CJK KR"/>
              </a:defRPr>
            </a:pPr>
            <a:r>
              <a:t>입력: WAV와 발화 시작·종료 시각, 화자 구분   →   출력: 파일별 F/M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데이터와 규정 준수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65960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727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학습 원천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025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29,200건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서울/구급 Training만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1965960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727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모델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025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5,840건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432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Training에서 분리한 내부 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1965960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72768"/>
            <a:ext cx="3072384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최종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02536"/>
            <a:ext cx="3072384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3,640건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43200"/>
            <a:ext cx="3072384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공식 Validation · 학습 제외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58768"/>
            <a:ext cx="10817352" cy="144475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1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3233A"/>
                </a:solidFill>
                <a:latin typeface="Noto Sans CJK KR"/>
              </a:defRPr>
            </a:pPr>
            <a:r>
              <a:t>추론 시 JSON에서 startAt, endAt, speaker만 사용합니다.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B5764"/>
                </a:solidFill>
                <a:latin typeface="Noto Sans CJK KR"/>
              </a:defRPr>
            </a:pPr>
            <a:r>
              <a:t>gender는 Validation 정확도 계산에만 사용하며, 제출 추론 코드는 gender 없이 동작합니다.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모델과 추론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3/6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33472" cy="3172968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728216"/>
            <a:ext cx="493776" cy="493776"/>
          </a:xfrm>
          <a:prstGeom prst="round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" y="1773936"/>
            <a:ext cx="42062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14016"/>
            <a:ext cx="2304288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3233A"/>
                </a:solidFill>
                <a:latin typeface="Noto Sans CJK KR"/>
              </a:defRPr>
            </a:pPr>
            <a:r>
              <a:t>신고자 구간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182112"/>
            <a:ext cx="2304288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speaker=1 구간 합치기</a:t>
            </a:r>
          </a:p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speaker=0 겹침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554480"/>
            <a:ext cx="2633472" cy="3172968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85032" y="1728216"/>
            <a:ext cx="493776" cy="493776"/>
          </a:xfrm>
          <a:prstGeom prst="round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1773936"/>
            <a:ext cx="42062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14016"/>
            <a:ext cx="2304288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3233A"/>
                </a:solidFill>
                <a:latin typeface="Noto Sans CJK KR"/>
              </a:defRPr>
            </a:pPr>
            <a:r>
              <a:t>음성 전처리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182112"/>
            <a:ext cx="2304288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16 kHz 모노 변환</a:t>
            </a:r>
          </a:p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6초 창 최대 5개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554480"/>
            <a:ext cx="2633472" cy="3172968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1728216"/>
            <a:ext cx="493776" cy="493776"/>
          </a:xfrm>
          <a:prstGeom prst="round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73936"/>
            <a:ext cx="42062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14016"/>
            <a:ext cx="2304288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3233A"/>
                </a:solidFill>
                <a:latin typeface="Noto Sans CJK KR"/>
              </a:defRPr>
            </a:pPr>
            <a:r>
              <a:t>WavLM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182112"/>
            <a:ext cx="2304288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Base Plus 인코더</a:t>
            </a:r>
          </a:p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가중 레이어·주의집중 집계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1554480"/>
            <a:ext cx="2633472" cy="3172968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82328" y="1728216"/>
            <a:ext cx="493776" cy="493776"/>
          </a:xfrm>
          <a:prstGeom prst="round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1773936"/>
            <a:ext cx="42062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2414016"/>
            <a:ext cx="2304288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3233A"/>
                </a:solidFill>
                <a:latin typeface="Noto Sans CJK KR"/>
              </a:defRPr>
            </a:pPr>
            <a:r>
              <a:t>통화별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5" y="3182112"/>
            <a:ext cx="2304288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창별 M 확률 평균</a:t>
            </a:r>
          </a:p>
          <a:p>
            <a:pPr>
              <a:spcAft>
                <a:spcPts val="800"/>
              </a:spcAft>
              <a:defRPr sz="1500" b="0">
                <a:solidFill>
                  <a:srgbClr val="4B5764"/>
                </a:solidFill>
                <a:latin typeface="Noto Sans CJK KR"/>
              </a:defRPr>
            </a:pPr>
            <a:r>
              <a:t>0.5 기준 F/M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266944"/>
            <a:ext cx="106070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6E9C"/>
                </a:solidFill>
                <a:latin typeface="Noto Sans CJK KR"/>
              </a:defRPr>
            </a:pPr>
            <a:r>
              <a:t>모델 파라미터와 설정은 best.pt에 포함되어 별도 사전학습 가중치 다운로드가 필요하지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학습 곡선과 최종 성능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4/6</a:t>
            </a:r>
          </a:p>
        </p:txBody>
      </p:sp>
      <p:pic>
        <p:nvPicPr>
          <p:cNvPr id="6" name="Picture 5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8176"/>
            <a:ext cx="5806440" cy="1786597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690872" cy="2222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23560"/>
            <a:ext cx="1088136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3233A"/>
                </a:solidFill>
                <a:latin typeface="Noto Sans CJK KR"/>
              </a:defRPr>
            </a:pPr>
            <a:r>
              <a:t>내부 dev 기준 Epoch 4 최고 모델 선택 · Validation 혼동행렬 [[1933, 26], [20, 1661]]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결과 분석과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5/6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44168"/>
            <a:ext cx="3447288" cy="194767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99616"/>
            <a:ext cx="304495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F →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29384"/>
            <a:ext cx="3044952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26건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70048"/>
            <a:ext cx="3044952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실제 F 1,959건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44168"/>
            <a:ext cx="3447288" cy="194767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4495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M →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9384"/>
            <a:ext cx="3044952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20건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3044952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실제 M 1,681건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344168"/>
            <a:ext cx="3447288" cy="1947672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9616"/>
            <a:ext cx="304495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E9C"/>
                </a:solidFill>
                <a:latin typeface="Noto Sans CJK KR"/>
              </a:defRPr>
            </a:pPr>
            <a:r>
              <a:t>전체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9384"/>
            <a:ext cx="3044952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3233A"/>
                </a:solidFill>
                <a:latin typeface="Noto Sans CJK KR"/>
              </a:defRPr>
            </a:pPr>
            <a:r>
              <a:t>46건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70048"/>
            <a:ext cx="3044952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B5764"/>
                </a:solidFill>
                <a:latin typeface="Noto Sans CJK KR"/>
              </a:defRPr>
            </a:pPr>
            <a:r>
              <a:t>Validation 3,640건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776472"/>
            <a:ext cx="10808208" cy="1700784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977639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3233A"/>
                </a:solidFill>
                <a:latin typeface="Noto Sans CJK KR"/>
              </a:defRPr>
            </a:pPr>
            <a:r>
              <a:t>평가 범위: 서울/구급 데이터와 이진 F/M 라벨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489704"/>
            <a:ext cx="10195560" cy="7589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B5764"/>
                </a:solidFill>
                <a:latin typeface="Noto Sans CJK KR"/>
              </a:defRPr>
            </a:pPr>
            <a:r>
              <a:t>다른 지역·잡음 조건·라벨 체계에서의 성능은 별도로 검증해야 합니다.</a:t>
            </a:r>
          </a:p>
          <a:p>
            <a:pPr>
              <a:spcAft>
                <a:spcPts val="800"/>
              </a:spcAft>
              <a:defRPr sz="1600" b="0">
                <a:solidFill>
                  <a:srgbClr val="4B5764"/>
                </a:solidFill>
                <a:latin typeface="Noto Sans CJK KR"/>
              </a:defRPr>
            </a:pPr>
            <a:r>
              <a:t>공식 Test 점수는 주최 측 입력으로 추론해야 확정됩니다.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09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7899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3233A"/>
                </a:solidFill>
                <a:latin typeface="Noto Sans CJK KR"/>
              </a:defRPr>
            </a:pPr>
            <a:r>
              <a:t>사회안전 활용과 재현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0704"/>
            <a:ext cx="10972800" cy="22860"/>
          </a:xfrm>
          <a:prstGeom prst="rect">
            <a:avLst/>
          </a:prstGeom>
          <a:solidFill>
            <a:srgbClr val="D7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55664"/>
            <a:ext cx="10972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4B5764"/>
                </a:solidFill>
                <a:latin typeface="Noto Sans CJK KR"/>
              </a:defRPr>
            </a:pPr>
            <a:r>
              <a:t>2026 데이터+AI 크리에이터 캠프  |  Mission 1  |  6/6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44168"/>
            <a:ext cx="10881360" cy="1874519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54480"/>
            <a:ext cx="10149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56E9C"/>
                </a:solidFill>
                <a:latin typeface="Noto Sans CJK KR"/>
              </a:defRPr>
            </a:pPr>
            <a:r>
              <a:t>활용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39112"/>
            <a:ext cx="10149840" cy="8503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3233A"/>
                </a:solidFill>
                <a:latin typeface="Noto Sans CJK KR"/>
              </a:defRPr>
            </a:pPr>
            <a:r>
              <a:t>신고 통화 분석을 보조하는 음성 정보 추출에 활용할 수 있습니다.</a:t>
            </a:r>
          </a:p>
          <a:p>
            <a:pPr>
              <a:spcAft>
                <a:spcPts val="800"/>
              </a:spcAft>
              <a:defRPr sz="1800" b="0">
                <a:solidFill>
                  <a:srgbClr val="13233A"/>
                </a:solidFill>
                <a:latin typeface="Noto Sans CJK KR"/>
              </a:defRPr>
            </a:pPr>
            <a:r>
              <a:t>응급성 판단이나 출동 결정은 성별 예측만으로 수행하지 않아야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93008"/>
            <a:ext cx="10881360" cy="1920240"/>
          </a:xfrm>
          <a:prstGeom prst="roundRect">
            <a:avLst/>
          </a:prstGeom>
          <a:solidFill>
            <a:srgbClr val="EE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694176"/>
            <a:ext cx="10149840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256E9C"/>
                </a:solidFill>
                <a:latin typeface="Noto Sans CJK KR"/>
              </a:defRPr>
            </a:pPr>
            <a:r>
              <a:t>재현 및 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206240"/>
            <a:ext cx="10149840" cy="8778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3233A"/>
                </a:solidFill>
                <a:latin typeface="Noto Sans CJK KR"/>
              </a:defRPr>
            </a:pPr>
            <a:r>
              <a:t>inference.py · model.py · best.pt · requirements.txt · 실행 로그 노트북 제공</a:t>
            </a:r>
          </a:p>
          <a:p>
            <a:pPr>
              <a:spcAft>
                <a:spcPts val="800"/>
              </a:spcAft>
              <a:defRPr sz="1700" b="0">
                <a:solidFill>
                  <a:srgbClr val="13233A"/>
                </a:solidFill>
                <a:latin typeface="Noto Sans CJK KR"/>
              </a:defRPr>
            </a:pPr>
            <a:r>
              <a:t>한 번의 명령으로 WAV/JSON 입력에서 mission1.csv를 생성합니다.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